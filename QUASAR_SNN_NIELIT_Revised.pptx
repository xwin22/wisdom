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13"/>
    <p:sldId id="268" r:id="rId12"/>
    <p:sldId id="269" r:id="rId11"/>
    <p:sldId id="270" r:id="rId10"/>
    <p:sldId id="271" r:id="rId9"/>
    <p:sldId id="272" r:id="rId8"/>
  </p:sldIdLst>
  <p:sldSz cx="12192000" cy="6858000"/>
  <p:notesSz cx="12192000" cy="6858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Play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5A17D3-7EBE-47CE-8C45-77CF9AD39015}">
  <a:tblStyle styleId="{475A17D3-7EBE-47CE-8C45-77CF9AD39015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  <a:fill>
          <a:solidFill>
            <a:srgbClr val="CAD1D8"/>
          </a:solidFill>
        </a:fill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D0BB033-1DFC-451B-A922-EAAB72ECA61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92" y="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17.xml"/><Relationship Id="rId9" Type="http://schemas.openxmlformats.org/officeDocument/2006/relationships/slide" Target="slides/slide16.xml"/><Relationship Id="rId10" Type="http://schemas.openxmlformats.org/officeDocument/2006/relationships/slide" Target="slides/slide15.xml"/><Relationship Id="rId11" Type="http://schemas.openxmlformats.org/officeDocument/2006/relationships/slide" Target="slides/slide14.xml"/><Relationship Id="rId12" Type="http://schemas.openxmlformats.org/officeDocument/2006/relationships/slide" Target="slides/slide13.xml"/><Relationship Id="rId13" Type="http://schemas.openxmlformats.org/officeDocument/2006/relationships/slide" Target="slides/slide12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4, 20, 25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6, 8, 20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6, 9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17–19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 20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10, 14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11–13; RTL implication is a proposed verification requirement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 20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6, 16, 20, 21; FC1 share calculated from supplied dimensions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8, 22, 25; questions derived from the proposed architecture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6, 17, 20; abstract references include reliability literature. These are open questions, not observed defects.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15, 21, 23, 26; explicit arithmetic semantics are proposed requirements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24–26; device/budget remain unspecified in the supplied progress evidence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slides 20, 21, 28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References reproduced from the supplied abstract-review deck; bibliographic entries have not been independently verified.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Progress slide 26</a:t>
            </a:r>
          </a:p>
          <a:p>
            <a:r>
              <a:t>All numerical results are reproduced from the supplied progress-review deck; training logs and checkpoints were not independently inspected. Proposed tests and unresolved questions are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1041763" y="2683907"/>
            <a:ext cx="10526486" cy="5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2800"/>
            </a:pPr>
            <a:r>
              <a:rPr lang="en-GB" sz="2000" b="1" dirty="0"/>
              <a:t>QUASAR-SNN: </a:t>
            </a:r>
          </a:p>
          <a:p>
            <a:pPr lvl="0" algn="ctr">
              <a:buClr>
                <a:schemeClr val="dk1"/>
              </a:buClr>
              <a:buSzPts val="2800"/>
            </a:pPr>
            <a:r>
              <a:rPr lang="en-GB" sz="2000" b="1" dirty="0"/>
              <a:t>Design and FPGA Implementation of a Quantized, Activity-Aware and Sparse Spiking Neural Network Accelerator for Onboard Remote-Sensing Applications</a:t>
            </a: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719542" y="3724836"/>
            <a:ext cx="5301615" cy="203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Dissertation - Progress Review  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1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by,</a:t>
            </a:r>
            <a:endParaRPr sz="2000" b="0" i="1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Xwin J Thomas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NDU202500365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M.Tech</a:t>
            </a:r>
            <a:r>
              <a:rPr lang="en-US" sz="20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EDT 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711987" y="4663217"/>
            <a:ext cx="3589342" cy="105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1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By,</a:t>
            </a:r>
            <a:endParaRPr sz="1800" b="0" i="1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1800" b="0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Guide: Sravan Mohan</a:t>
            </a:r>
            <a:r>
              <a:rPr lang="en-US" sz="1800" i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Project Manager, Processor Systems (India) Private Limited</a:t>
            </a:r>
          </a:p>
          <a:p>
            <a:pPr lvl="0"/>
            <a:endParaRPr dirty="0"/>
          </a:p>
        </p:txBody>
      </p:sp>
      <p:sp>
        <p:nvSpPr>
          <p:cNvPr id="91" name="Google Shape;91;p13"/>
          <p:cNvSpPr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680988" y="4532023"/>
            <a:ext cx="3011549" cy="131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1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1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Guide: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NIELIT CALICUT</a:t>
            </a:r>
            <a:endParaRPr sz="1800" b="0" i="1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6471" y="80684"/>
            <a:ext cx="2011994" cy="113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3094412" y="1212309"/>
            <a:ext cx="6125134" cy="10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राष्ट्रीय इलेक्ट्रॉनिकी एवं सूचना प्रौद्योगिकी संस्थान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National Institute of Electronics and Information Technology 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Deemed to be University under Distinct Category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60020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Central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Can the selected hybrid SNN retain its accuracy advantage over early encodings when mapped to a fixed-point, event-driven FPGA datapath?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5351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Current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410712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Model selection and software precision studies are complete. The selected T10 model achieves 92.32% held-out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0682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Unresolved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64024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Resource, latency and energy benefits remain to be demonstrated on hardware; activity-weighted operation counts alone cannot establish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Selected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847088" cy="960120"/>
          </a:xfrm>
          <a:prstGeom prst="rect">
            <a:avLst/>
          </a:prstGeom>
          <a:solidFill>
            <a:srgbClr val="F0F3F7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57400"/>
            <a:ext cx="17007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RGB image</a:t>
            </a:r>
          </a:p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3 × 64 ×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8064" y="215798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874519"/>
            <a:ext cx="1847088" cy="960120"/>
          </a:xfrm>
          <a:prstGeom prst="rect">
            <a:avLst/>
          </a:prstGeom>
          <a:solidFill>
            <a:srgbClr val="F0F3F7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2057400"/>
            <a:ext cx="17007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Conv1 + BN</a:t>
            </a:r>
          </a:p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computed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3" y="215798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874519"/>
            <a:ext cx="1847088" cy="960120"/>
          </a:xfrm>
          <a:prstGeom prst="rect">
            <a:avLst/>
          </a:prstGeom>
          <a:solidFill>
            <a:srgbClr val="F0F3F7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2057400"/>
            <a:ext cx="17007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Static current</a:t>
            </a:r>
          </a:p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LIF1 +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5798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59" y="1874519"/>
            <a:ext cx="1847088" cy="960120"/>
          </a:xfrm>
          <a:prstGeom prst="rect">
            <a:avLst/>
          </a:prstGeom>
          <a:solidFill>
            <a:srgbClr val="F0F3F7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2057400"/>
            <a:ext cx="17007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Conv2 / Conv3</a:t>
            </a:r>
          </a:p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LIF +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215798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874519"/>
            <a:ext cx="1847088" cy="960120"/>
          </a:xfrm>
          <a:prstGeom prst="rect">
            <a:avLst/>
          </a:prstGeom>
          <a:solidFill>
            <a:srgbClr val="F0F3F7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2" y="2057400"/>
            <a:ext cx="17007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FC1 spikes</a:t>
            </a:r>
          </a:p>
          <a:p>
            <a:pPr algn="ctr">
              <a:spcAft>
                <a:spcPts val="1200"/>
              </a:spcAft>
              <a:defRPr sz="1800" b="0">
                <a:solidFill>
                  <a:srgbClr val="1E1E1E"/>
                </a:solidFill>
                <a:latin typeface="Arial"/>
              </a:defRPr>
            </a:pPr>
            <a:r>
              <a:t>FC2 readout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2461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T = 10   |   ~549k parameters   |   10 EuroSAT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096512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Conv1 contributes 1.77M dense MACs per image; downstream layers contribute 14.70M spike-driven ACs.</a:t>
            </a:r>
          </a:p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Static-current reuse is an architectural opportunity; its storage and access costs still need measurement.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85216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55555"/>
                </a:solidFill>
                <a:latin typeface="Arial"/>
              </a:defRPr>
            </a:pPr>
            <a:r>
              <a:t>MAC and AC counts are reported separately; they have different implementation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CNN and Hybrid SNN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743200"/>
                <a:gridCol w="2743200"/>
              </a:tblGrid>
              <a:tr h="612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Earlier T14 study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 (%)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Macro-F1 (%)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CNN · 3 seeds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92.95 ± 0.48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92.81 ± 0.48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Hybrid SNN · 3 seeds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92.86 ± 0.41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92.74 ± 0.42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2688" y="553212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E1E1E"/>
                </a:solidFill>
                <a:latin typeface="Arial"/>
              </a:defRPr>
            </a:pPr>
            <a:r>
              <a:t>Similar scores across three seeds support comparable performance. They do not establish statistical equivalence or an accuracy improvement.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Timestep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560320"/>
              </a:tblGrid>
              <a:tr h="612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Val. accuracy (%)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Val. macro-F1 (%)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Downstream AC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92.00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91.89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9.45M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10 · selected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92.52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92.44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14.71M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93.06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92.96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22.91M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2688" y="553212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E1E1E"/>
                </a:solidFill>
                <a:latin typeface="Arial"/>
              </a:defRPr>
            </a:pPr>
            <a:r>
              <a:t>T10 reduces validation AC by 35.77% versus T14 for a 0.52 percentage-point reduction in macro-F1. Selection used validation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Held-Out Evaluation: T10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743200"/>
                <a:gridCol w="3657600"/>
              </a:tblGrid>
              <a:tr h="612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Validation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· 4,050 images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92.52%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92.32%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Macro-F1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92.44%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92.23%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Downstream AC / image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14.71M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14.70M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2688" y="553212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E1E1E"/>
                </a:solidFill>
                <a:latin typeface="Arial"/>
              </a:defRPr>
            </a:pPr>
            <a:r>
              <a:t>The test score is close to validation. T10 robustness across seeds and geographically independent evaluation remain unreported.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Quantization Results: Earlier T14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743200"/>
                <a:gridCol w="3657600"/>
              </a:tblGrid>
              <a:tr h="612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Configuration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accuracy (%)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FP32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92.59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Reference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Fixed16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92.47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0.12 pp reduction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Uniform Fixed8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44.57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Severe degradation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I12 / W12 / C12 / M12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92.35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0.24 pp reduction*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2688" y="553212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E1E1E"/>
                </a:solidFill>
                <a:latin typeface="Arial"/>
              </a:defRPr>
            </a:pPr>
            <a:r>
              <a:t>*Computed from the rounded displayed accuracies. This is a T14 result; 12-bit T10 performance after pruning is still unknown.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Why the 8-Bit Model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60020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Observed numerical mismatch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mem1 LSB = 2.0 against a threshold of approximately 1.125. mem4 LSB = 8.0, approximately 16× its learned threshold.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5351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Precision localization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410712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Widening membranes alone changed accuracy little when currents stayed at 8 bits. Wider current paths produced the larger recovery.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0682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Implication for RTL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64024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Zero observed saturation does not establish numerical fidelity. Rounding, threshold crossing and state-update order must be matched explicitly.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Activity Profile: Where Work Remains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468880"/>
                <a:gridCol w="4754880"/>
              </a:tblGrid>
              <a:tr h="612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T10 test activation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Spike density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Design question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Pool1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21.87%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Early event traffic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Pool2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8.48%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Sparse convolution scheduling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Pool3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7.04%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Memory access versus idle cycles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FC1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46.79%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Dense activity in the classifier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2688" y="553212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E1E1E"/>
                </a:solidFill>
                <a:latin typeface="Arial"/>
              </a:defRPr>
            </a:pPr>
            <a:r>
              <a:t>FC1 has the highest reported spike density. Density alone does not identify the largest energy cost; fan-out, state updates and memory traffic also matter.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FC1 Pruning: A Targeted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60020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Why 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FC1 is 4096 → 128: 524,288 weights, about 95.5% of the reported ~549k parameters. It also has 46.79% spike density.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5351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Proposed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410712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Compare 128 / 112 / 96 / 80 / 64 neurons using validation macro-F1, activity and estimated storage. Fine-tune the selected configuration.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0682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Question to resolve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64024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Do fewer FC1 neurons reduce BRAM and cycles after packing and scheduling? Recalibrate T10 precision after pruning before drawing conclusions.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94360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55555"/>
                </a:solidFill>
                <a:latin typeface="Arial"/>
              </a:defRPr>
            </a:pPr>
            <a:r>
              <a:t>Pruning is prepared, not executed. No post-pruning accuracy or hardware saving is claimed.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Hardware Benefits Still Need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60020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Static-current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Conv1 can run once per image, but holding the feature map may increase BRAM occupancy and repeated read traffic.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5351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Event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410712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Sparse spikes can avoid synaptic work. Queue management, irregular accesses and neuron-state updates may offset the saving.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0682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12-bit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64024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Arithmetic width and physical storage width are different. Actual BRAM packing, DSP mapping and Fmax must determine the benefit.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Generalization and Evidence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60020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Dataset independence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The supplied slides do not document spatially disjoint splits. Geographic leakage and performance on unseen regions need investigation.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5351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Class-level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410712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Macro-F1 is reported, but per-class recall and the confusion matrix are not shown. Identify systematic land-cover confusions before model freeze.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0682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Onboard relevance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64024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EuroSAT RGB classification is a controlled benchmark. Sensor changes, atmospheric effects and radiation reliability remain outside the demonstrated result.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Model Freeze and RTL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223760"/>
              </a:tblGrid>
              <a:tr h="612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 evidence</a:t>
                      </a:r>
                    </a:p>
                  </a:txBody>
                  <a:tcPr marL="128016" marR="109728" marT="109728" marB="91440">
                    <a:solidFill>
                      <a:srgbClr val="00206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Pruned T10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Validation-based choice; fine-tuning and activity report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Fixed-point reference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Q-formats, rounding, overflow, reset and update order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Layer verification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Currents, membrane states, spikes and class accumulator</a:t>
                      </a:r>
                    </a:p>
                  </a:txBody>
                  <a:tcPr marL="128016" marR="109728" marT="109728" marB="91440">
                    <a:solidFill>
                      <a:srgbClr val="F0F3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Hardware evaluation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Resources, Fmax, cycles, latency and energy / image</a:t>
                      </a:r>
                    </a:p>
                  </a:txBody>
                  <a:tcPr marL="128016" marR="109728" marT="109728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2688" y="553212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E1E1E"/>
                </a:solidFill>
                <a:latin typeface="Arial"/>
              </a:defRPr>
            </a:pPr>
            <a:r>
              <a:t>Preserve the tested unpruned checkpoint. Freeze the revised model before its final held-out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Decisions for the FPGA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60020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Full-network time-multiplexed inference or a representative event-processing block? Define what the first implementation must demonstrate.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5351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Device and memory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410712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Select the FPGA, clock target, on-chip storage budget and external-memory assumptions before choosing processing-element parallelism.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0682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Acceptance criterion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64024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Agree on acceptable accuracy loss and a hardware baseline. Compare dense and event-driven execution under the same measurement conditions.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Current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60020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Established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T10 selected on validation; 92.32% test accuracy and 92.23% macro-F1. Earlier T14 studies support a 12-bit starting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5351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Next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410712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Structured FC1 pruning → fine-tuning → T10 quantization → bit-accurate reference → RTL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0682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E1E1E"/>
                </a:solidFill>
                <a:latin typeface="Arial"/>
              </a:defRPr>
            </a:pPr>
            <a:r>
              <a:t>Remaining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64024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E1E1E"/>
                </a:solidFill>
                <a:latin typeface="Arial"/>
              </a:defRPr>
            </a:pPr>
            <a:r>
              <a:t>Demonstrate whether reduced activity and precision translate into a measured FPGA resource–latency–energy benefit.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Selected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600200"/>
            <a:ext cx="1024128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E1E1E"/>
                </a:solidFill>
                <a:latin typeface="Arial"/>
              </a:defRPr>
            </a:pPr>
            <a:r>
              <a:t>[1] N. Abderrahmane et al., “SPLEAT: SPiking Low-power Event-based ArchiTecture for in-orbit processing of satellite imagery,” IJCNN, 2022. DOI: 10.1109/IJCNN55064.2022.9892277.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624328"/>
            <a:ext cx="1024128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E1E1E"/>
                </a:solidFill>
                <a:latin typeface="Arial"/>
              </a:defRPr>
            </a:pPr>
            <a:r>
              <a:t>[2] D. Padovano et al., “SpikeExplorer: Hardware-Oriented Design Space Exploration for Spiking Neural Networks on FPGA,” Electronics, 2024. DOI: 10.3390/electronics13091744.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648456"/>
            <a:ext cx="1024128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E1E1E"/>
                </a:solidFill>
                <a:latin typeface="Arial"/>
              </a:defRPr>
            </a:pPr>
            <a:r>
              <a:t>[3] R. Pitonak et al., “CloudSatNet-1: FPGA-Based Hardware-Accelerated Quantized CNN for Satellite On-Board Cloud Coverage Classification,” Remote Sens., 2022. DOI: 10.3390/rs14133180.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672584"/>
            <a:ext cx="1024128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E1E1E"/>
                </a:solidFill>
                <a:latin typeface="Arial"/>
              </a:defRPr>
            </a:pPr>
            <a:r>
              <a:t>[4] P. Rech, “Artificial Neural Networks for Space and Safety-Critical Applications: Reliability Issues and Potential Solutions,” IEEE Trans. Nucl. Sci., 71(4), 377–404, 2024.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74519"/>
            <a:ext cx="10149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E1E1E"/>
                </a:solidFill>
                <a:latin typeface="Arial"/>
              </a:defRPr>
            </a:pPr>
            <a:r>
              <a:t>What should the first FPGA prototype prove?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926080"/>
            <a:ext cx="10149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E1E1E"/>
                </a:solidFill>
                <a:latin typeface="Arial"/>
              </a:defRPr>
            </a:pPr>
            <a:r>
              <a:t>• Functional equivalence to the fixed-point model</a:t>
            </a:r>
          </a:p>
          <a:p>
            <a:pPr>
              <a:spcAft>
                <a:spcPts val="1200"/>
              </a:spcAft>
              <a:defRPr sz="2500" b="0">
                <a:solidFill>
                  <a:srgbClr val="1E1E1E"/>
                </a:solidFill>
                <a:latin typeface="Arial"/>
              </a:defRPr>
            </a:pPr>
            <a:r>
              <a:t>• A measurable benefit from event-driven execution</a:t>
            </a:r>
          </a:p>
          <a:p>
            <a:pPr>
              <a:spcAft>
                <a:spcPts val="1200"/>
              </a:spcAft>
              <a:defRPr sz="2500" b="0">
                <a:solidFill>
                  <a:srgbClr val="1E1E1E"/>
                </a:solidFill>
                <a:latin typeface="Arial"/>
              </a:defRPr>
            </a:pPr>
            <a:r>
              <a:t>• A realistic memory and timing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62356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555555"/>
                </a:solidFill>
                <a:latin typeface="Arial"/>
              </a:defRPr>
            </a:pPr>
            <a:r>
              <a:t>Xwin J Thomas  |  M.Tech EDT  |  NIELIT Calicut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</TotalTime>
  <Words>3451</Words>
  <Application>Microsoft Office PowerPoint</Application>
  <PresentationFormat>Widescreen</PresentationFormat>
  <Paragraphs>362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Aptos</vt:lpstr>
      <vt:lpstr>Play</vt:lpstr>
      <vt:lpstr>Times New Roman</vt:lpstr>
      <vt:lpstr>Calibri</vt:lpstr>
      <vt:lpstr>office theme</vt:lpstr>
      <vt:lpstr>PowerPoint Presentation</vt:lpstr>
      <vt:lpstr>Introduction </vt:lpstr>
      <vt:lpstr>Introduction </vt:lpstr>
      <vt:lpstr>Problem Statement</vt:lpstr>
      <vt:lpstr>Project Objectives</vt:lpstr>
      <vt:lpstr>Literature Review</vt:lpstr>
      <vt:lpstr>Literature Review</vt:lpstr>
      <vt:lpstr>Research Gap</vt:lpstr>
      <vt:lpstr>Research Gap</vt:lpstr>
      <vt:lpstr>Proposed Methodology – Model Development</vt:lpstr>
      <vt:lpstr>Proposed Methodology – Model Development</vt:lpstr>
      <vt:lpstr>Proposed Methodology – FPGA Design</vt:lpstr>
      <vt:lpstr>Proposed Methodology – FPGA Design</vt:lpstr>
      <vt:lpstr>Expected Outcome</vt:lpstr>
      <vt:lpstr>Expected Outcome</vt:lpstr>
      <vt:lpstr>Expected Outcome</vt:lpstr>
      <vt:lpstr>Tools And Technologies</vt:lpstr>
      <vt:lpstr>System Architecture</vt:lpstr>
      <vt:lpstr>Work Plan/ Timeline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Xwin Thomas</dc:creator>
  <cp:lastModifiedBy>Xwin Thomas</cp:lastModifiedBy>
  <cp:revision>35</cp:revision>
  <dcterms:modified xsi:type="dcterms:W3CDTF">2026-09-09T05:13:35Z</dcterms:modified>
</cp:coreProperties>
</file>